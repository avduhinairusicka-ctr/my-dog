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050C1-A60C-BFEA-5934-B64801E0A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4B96C4-CD26-7E2D-CC64-2814FC0FD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C2E14A-8CBC-AD22-5B8D-E225163B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76AEEE-6E69-28C9-7294-1273A330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3CE3F0-2DEF-BBCF-1C2D-79F6765A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2871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74173-71C5-BA43-3AE3-07530B53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80FC0-417A-3B2F-DEF2-E3C1490C8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056E81-7E02-E8EE-7AD9-D8F01FC8C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DC3DE1-DD11-C0D5-2689-7BE5231F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BC5D07-6972-6476-DE56-31302906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1328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FA8C5-8967-0067-9B0A-859FD25A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2EA93A-CAA2-1EC7-DAB7-ED2513C7B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BC90F7-CA99-B7BE-9493-C36E5FEE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E0013-48B6-BF8A-6BE7-7B08D934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92086C-5BE0-AAA7-E89A-03CD03D5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4739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3A660-4F9D-6479-8214-D446321A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B6C599-9A7B-F105-CB24-2F85B43C9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844B6A-4F8F-F447-55A6-FD8D10BD6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E2A357-C301-4279-3A2D-921956A5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515CFE-8019-266B-172E-9DF908A9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3E0403-C832-B94A-EBE3-C9846EC1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2245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4C0FE-BEAE-AFA2-D51E-B4A3E66CD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55F400-6CD7-57F1-50EA-04415568F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50371B-03CB-A0F0-BBE0-C5E786AF4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1ADC1E-58D1-C8F7-B57F-F588A8C27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A9E8FC-5B14-BDFA-CD44-55CB881AE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2FC222-481A-6E49-A557-C033BF75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58C67A-4E66-8515-7142-E69924E9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3CC31F9-93F0-5183-270D-1433D884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25268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2F224-8255-7151-6ECD-143A9901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9DC0CEE-9B0A-909A-F0D1-6AD3A733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670BA14-B21F-D471-AC7F-A011B438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22A0E0-460F-D1B1-5FF0-CC5F847A1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2754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3A1236E-1ABC-5CBD-E513-0042CABE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3056CC-44D2-BC3F-3C22-F93C4163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5D0074-1CC3-2019-1F01-AFD39A93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72474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6874E-4357-4538-408A-3BE3A060A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3697DA-A8A5-C71D-346D-58DAE8DF0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862F6C-C5F1-DDDA-6679-C7CD39B2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F0EEE6-B03B-102C-4E33-EA81AE72E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A00CA4-55DF-D5A4-8E82-041B4C245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246D28-847C-EFB3-AD47-C234F957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9319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0DBBEA-59C4-70FB-7965-79BD4D7B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A74F733-E91F-3169-5757-FEC7F2999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21D937-5942-FF3E-79B6-DECAD1132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D0EA40-872A-A2DD-5953-1AE6980E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F383FE-0EC2-921A-9F5A-56EA33E8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349B16-EDA4-CB4B-3D37-68B7A206F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10693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59AA8-1D0F-1104-0922-79A9BBDF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73D7DA-E24E-8712-268E-A343C18BD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616A0D-7C1E-C052-B728-26C8DCB10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8C7280-6AFE-8172-31D1-0E5BA9A7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A4974D-7CEB-1BBB-E3B0-00C7CDE6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37400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7F3A8C-910C-E5F0-23FB-06DD079D6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7914C9-D8BF-17DF-8336-E768FF874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CE60C6-BD27-42B8-F668-9F3098B78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101368-A6ED-8CE1-DC7D-DDA4AC68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DDE533-E96A-0685-E853-415DC041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246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6E71D-ABF8-DCEE-D044-01B4CE6D7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ED86EA-3047-BC49-AFAC-F998F64C3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7EF866-8381-94C6-4519-B07F466C3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691B8-FACF-AE4E-97AD-37D4EAF2DD9C}" type="datetimeFigureOut">
              <a:rPr lang="ru-UA" smtClean="0"/>
              <a:t>22.12.2025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284349-8085-B610-ED82-80AB99312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861055-AE5A-64B4-C2DB-DDD8B0542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9F947-BC40-E849-AD19-5511C7656030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8040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493B-D0D2-2881-71F3-51D5FC254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Презентація</a:t>
            </a:r>
            <a:r>
              <a:rPr lang="ru-RU" b="1" dirty="0"/>
              <a:t>: «</a:t>
            </a:r>
            <a:r>
              <a:rPr lang="ru-RU" b="1" dirty="0" err="1"/>
              <a:t>Гіпо</a:t>
            </a:r>
            <a:r>
              <a:rPr lang="ru-RU" b="1" dirty="0"/>
              <a:t>- та </a:t>
            </a:r>
            <a:r>
              <a:rPr lang="ru-RU" b="1" dirty="0" err="1"/>
              <a:t>авітамінози</a:t>
            </a:r>
            <a:r>
              <a:rPr lang="ru-RU" b="1" dirty="0"/>
              <a:t> і </a:t>
            </a:r>
            <a:r>
              <a:rPr lang="ru-RU" b="1" dirty="0" err="1"/>
              <a:t>їх</a:t>
            </a:r>
            <a:r>
              <a:rPr lang="ru-RU" b="1" dirty="0"/>
              <a:t> </a:t>
            </a:r>
            <a:r>
              <a:rPr lang="ru-RU" b="1" dirty="0" err="1"/>
              <a:t>профілактика</a:t>
            </a:r>
            <a:r>
              <a:rPr lang="ru-RU" b="1" dirty="0"/>
              <a:t>»</a:t>
            </a:r>
            <a:br>
              <a:rPr lang="ru-RU" b="1" dirty="0"/>
            </a:b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26054D-F69E-1FCA-CF6C-1E009580F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6051" y="3541672"/>
            <a:ext cx="9144000" cy="1655762"/>
          </a:xfrm>
        </p:spPr>
        <p:txBody>
          <a:bodyPr/>
          <a:lstStyle/>
          <a:p>
            <a:r>
              <a:rPr lang="ru-RU" b="1" dirty="0"/>
              <a:t>Тема</a:t>
            </a:r>
            <a:r>
              <a:rPr lang="ru-RU" dirty="0"/>
              <a:t>: </a:t>
            </a:r>
            <a:r>
              <a:rPr lang="ru-RU" b="1" dirty="0" err="1"/>
              <a:t>Гіпо</a:t>
            </a:r>
            <a:r>
              <a:rPr lang="ru-RU" b="1" dirty="0"/>
              <a:t>- та </a:t>
            </a:r>
            <a:r>
              <a:rPr lang="ru-RU" b="1" dirty="0" err="1"/>
              <a:t>авітамінози</a:t>
            </a:r>
            <a:r>
              <a:rPr lang="ru-RU" b="1" dirty="0"/>
              <a:t> і </a:t>
            </a:r>
            <a:r>
              <a:rPr lang="ru-RU" b="1" dirty="0" err="1"/>
              <a:t>їх</a:t>
            </a:r>
            <a:r>
              <a:rPr lang="ru-RU" b="1" dirty="0"/>
              <a:t> </a:t>
            </a:r>
            <a:r>
              <a:rPr lang="ru-RU" b="1" dirty="0" err="1"/>
              <a:t>профілактика</a:t>
            </a:r>
            <a:endParaRPr lang="ru-RU" b="1" dirty="0"/>
          </a:p>
          <a:p>
            <a:endParaRPr lang="ru-UA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50A72-8F18-CE3C-6648-FCC607EACAA6}"/>
              </a:ext>
            </a:extLst>
          </p:cNvPr>
          <p:cNvSpPr txBox="1"/>
          <p:nvPr/>
        </p:nvSpPr>
        <p:spPr>
          <a:xfrm>
            <a:off x="1296050" y="4312045"/>
            <a:ext cx="3672505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dirty="0"/>
              <a:t>Уч</a:t>
            </a:r>
            <a:r>
              <a:rPr lang="uk-UA" sz="2500" dirty="0" err="1"/>
              <a:t>ениця</a:t>
            </a:r>
            <a:r>
              <a:rPr lang="uk-UA" sz="2500" dirty="0"/>
              <a:t>: </a:t>
            </a:r>
            <a:r>
              <a:rPr lang="uk-UA" sz="2500" dirty="0" err="1"/>
              <a:t>Авдюхіна</a:t>
            </a:r>
            <a:r>
              <a:rPr lang="uk-UA" sz="2500" dirty="0"/>
              <a:t> Ірина </a:t>
            </a:r>
            <a:endParaRPr lang="ru-RU" sz="2500" dirty="0"/>
          </a:p>
          <a:p>
            <a:r>
              <a:rPr lang="ru-RU" sz="2500" dirty="0" err="1"/>
              <a:t>Клас</a:t>
            </a:r>
            <a:r>
              <a:rPr lang="ru-RU" sz="2500" dirty="0"/>
              <a:t>: 8</a:t>
            </a:r>
          </a:p>
          <a:p>
            <a:r>
              <a:rPr lang="ru-RU" sz="2500" dirty="0"/>
              <a:t>Дата</a:t>
            </a:r>
            <a:r>
              <a:rPr lang="uk-UA" sz="2500" dirty="0"/>
              <a:t>: 22.12.25</a:t>
            </a:r>
            <a:endParaRPr lang="ru-RU" sz="2500" dirty="0"/>
          </a:p>
          <a:p>
            <a:pPr algn="l"/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72147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101CE-4130-7B20-AC00-945C2813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Вітаміни</a:t>
            </a:r>
            <a:r>
              <a:rPr lang="ru-RU" b="1" dirty="0"/>
              <a:t> та </a:t>
            </a:r>
            <a:r>
              <a:rPr lang="ru-RU" b="1" dirty="0" err="1"/>
              <a:t>їх</a:t>
            </a:r>
            <a:r>
              <a:rPr lang="ru-RU" b="1" dirty="0"/>
              <a:t> роль</a:t>
            </a:r>
            <a:br>
              <a:rPr lang="ru-RU" b="1" dirty="0"/>
            </a:b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35856-A1EC-AD0F-D298-561F1FF37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800" dirty="0" err="1"/>
              <a:t>Вітаміни</a:t>
            </a:r>
            <a:r>
              <a:rPr lang="ru-RU" sz="3800" dirty="0"/>
              <a:t> — </a:t>
            </a:r>
            <a:r>
              <a:rPr lang="ru-RU" sz="3800" dirty="0" err="1"/>
              <a:t>біологічно</a:t>
            </a:r>
            <a:r>
              <a:rPr lang="ru-RU" sz="3800" dirty="0"/>
              <a:t> </a:t>
            </a:r>
            <a:r>
              <a:rPr lang="ru-RU" sz="3800" dirty="0" err="1"/>
              <a:t>активні</a:t>
            </a:r>
            <a:r>
              <a:rPr lang="ru-RU" sz="3800" dirty="0"/>
              <a:t> </a:t>
            </a:r>
            <a:r>
              <a:rPr lang="ru-RU" sz="3800" dirty="0" err="1"/>
              <a:t>речовини</a:t>
            </a:r>
            <a:endParaRPr lang="ru-RU" sz="3800" dirty="0"/>
          </a:p>
          <a:p>
            <a:r>
              <a:rPr lang="ru-RU" sz="3800" dirty="0" err="1"/>
              <a:t>Потрібні</a:t>
            </a:r>
            <a:r>
              <a:rPr lang="ru-RU" sz="3800" dirty="0"/>
              <a:t> для </a:t>
            </a:r>
            <a:r>
              <a:rPr lang="ru-RU" sz="3800" dirty="0" err="1"/>
              <a:t>обміну</a:t>
            </a:r>
            <a:r>
              <a:rPr lang="ru-RU" sz="3800" dirty="0"/>
              <a:t> </a:t>
            </a:r>
            <a:r>
              <a:rPr lang="ru-RU" sz="3800" dirty="0" err="1"/>
              <a:t>речовин</a:t>
            </a:r>
            <a:r>
              <a:rPr lang="ru-RU" sz="3800" dirty="0"/>
              <a:t> і </a:t>
            </a:r>
            <a:r>
              <a:rPr lang="ru-RU" sz="3800" dirty="0" err="1"/>
              <a:t>нормальної</a:t>
            </a:r>
            <a:r>
              <a:rPr lang="ru-RU" sz="3800" dirty="0"/>
              <a:t> роботи </a:t>
            </a:r>
            <a:r>
              <a:rPr lang="ru-RU" sz="3800" dirty="0" err="1"/>
              <a:t>організму</a:t>
            </a:r>
            <a:endParaRPr lang="ru-RU" sz="3800" dirty="0"/>
          </a:p>
          <a:p>
            <a:r>
              <a:rPr lang="ru-RU" sz="3800" dirty="0" err="1"/>
              <a:t>Надходять</a:t>
            </a:r>
            <a:r>
              <a:rPr lang="ru-RU" sz="3800" dirty="0"/>
              <a:t> в </a:t>
            </a:r>
            <a:r>
              <a:rPr lang="ru-RU" sz="3800" dirty="0" err="1"/>
              <a:t>організм</a:t>
            </a:r>
            <a:r>
              <a:rPr lang="ru-RU" sz="3800" dirty="0"/>
              <a:t> з </a:t>
            </a:r>
            <a:r>
              <a:rPr lang="ru-RU" sz="3800" dirty="0" err="1"/>
              <a:t>їжею</a:t>
            </a:r>
            <a:endParaRPr lang="ru-RU" sz="3800" dirty="0"/>
          </a:p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4286105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21C3E-FFF3-2BBD-4CCB-D04C06FD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Гіповітаміноз</a:t>
            </a:r>
            <a:br>
              <a:rPr lang="ru-RU" b="1" dirty="0"/>
            </a:br>
            <a:endParaRPr lang="ru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BC5AA-D72C-FC1E-AC14-BCC421BC6B28}"/>
              </a:ext>
            </a:extLst>
          </p:cNvPr>
          <p:cNvSpPr txBox="1"/>
          <p:nvPr/>
        </p:nvSpPr>
        <p:spPr>
          <a:xfrm>
            <a:off x="838200" y="1259801"/>
            <a:ext cx="616243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1" dirty="0" err="1">
                <a:solidFill>
                  <a:srgbClr val="C00000"/>
                </a:solidFill>
              </a:rPr>
              <a:t>Гіповітаміноз</a:t>
            </a:r>
            <a:r>
              <a:rPr lang="ru-RU" b="1" i="1" dirty="0">
                <a:solidFill>
                  <a:srgbClr val="C00000"/>
                </a:solidFill>
              </a:rPr>
              <a:t> — </a:t>
            </a:r>
            <a:r>
              <a:rPr lang="ru-RU" sz="3100" b="1" i="1" dirty="0" err="1">
                <a:solidFill>
                  <a:srgbClr val="C00000"/>
                </a:solidFill>
              </a:rPr>
              <a:t>нестача</a:t>
            </a:r>
            <a:r>
              <a:rPr lang="ru-RU" sz="3100" b="1" i="1" dirty="0">
                <a:solidFill>
                  <a:srgbClr val="C00000"/>
                </a:solidFill>
              </a:rPr>
              <a:t> </a:t>
            </a:r>
            <a:r>
              <a:rPr lang="ru-RU" sz="3100" b="1" i="1" dirty="0" err="1">
                <a:solidFill>
                  <a:srgbClr val="C00000"/>
                </a:solidFill>
              </a:rPr>
              <a:t>вітамінів</a:t>
            </a:r>
            <a:endParaRPr lang="ru-RU" sz="3100" b="1" i="1" dirty="0">
              <a:solidFill>
                <a:srgbClr val="C00000"/>
              </a:solidFill>
            </a:endParaRPr>
          </a:p>
          <a:p>
            <a:pPr algn="l"/>
            <a:endParaRPr lang="ru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FC8CC-83C0-AF66-E2F6-FDCF89AEB086}"/>
              </a:ext>
            </a:extLst>
          </p:cNvPr>
          <p:cNvSpPr txBox="1"/>
          <p:nvPr/>
        </p:nvSpPr>
        <p:spPr>
          <a:xfrm>
            <a:off x="5603631" y="2777949"/>
            <a:ext cx="5750169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000" b="1" dirty="0"/>
              <a:t>Причини:</a:t>
            </a:r>
            <a:endParaRPr lang="ru-RU" sz="3000" b="1" dirty="0"/>
          </a:p>
          <a:p>
            <a:r>
              <a:rPr lang="ru-RU" sz="2700" dirty="0" err="1"/>
              <a:t>Нераціональне</a:t>
            </a:r>
            <a:r>
              <a:rPr lang="ru-RU" sz="2700" dirty="0"/>
              <a:t> </a:t>
            </a:r>
            <a:r>
              <a:rPr lang="ru-RU" sz="2700" dirty="0" err="1"/>
              <a:t>харчування</a:t>
            </a:r>
            <a:endParaRPr lang="ru-RU" sz="2700" dirty="0"/>
          </a:p>
          <a:p>
            <a:r>
              <a:rPr lang="ru-RU" sz="2700" dirty="0" err="1"/>
              <a:t>Недостатня</a:t>
            </a:r>
            <a:r>
              <a:rPr lang="ru-RU" sz="2700" dirty="0"/>
              <a:t> </a:t>
            </a:r>
            <a:r>
              <a:rPr lang="ru-RU" sz="2700" dirty="0" err="1"/>
              <a:t>кількість</a:t>
            </a:r>
            <a:r>
              <a:rPr lang="ru-RU" sz="2700" dirty="0"/>
              <a:t> </a:t>
            </a:r>
            <a:r>
              <a:rPr lang="ru-RU" sz="2700" dirty="0" err="1"/>
              <a:t>овочів</a:t>
            </a:r>
            <a:r>
              <a:rPr lang="ru-RU" sz="2700" dirty="0"/>
              <a:t> і </a:t>
            </a:r>
            <a:r>
              <a:rPr lang="ru-RU" sz="2700" dirty="0" err="1"/>
              <a:t>фруктів</a:t>
            </a:r>
            <a:endParaRPr lang="ru-RU" sz="2700" dirty="0"/>
          </a:p>
          <a:p>
            <a:r>
              <a:rPr lang="ru-RU" sz="2700" dirty="0" err="1"/>
              <a:t>Підвищені</a:t>
            </a:r>
            <a:r>
              <a:rPr lang="ru-RU" sz="2700" dirty="0"/>
              <a:t> потреби </a:t>
            </a:r>
            <a:r>
              <a:rPr lang="ru-RU" sz="2700" dirty="0" err="1"/>
              <a:t>організму</a:t>
            </a:r>
            <a:endParaRPr lang="ru-RU" sz="2700" dirty="0"/>
          </a:p>
          <a:p>
            <a:pPr algn="l"/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8680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03988-35F2-FD8E-4C27-8D813C92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Авітаміноз</a:t>
            </a:r>
            <a:br>
              <a:rPr lang="ru-RU" b="1" dirty="0"/>
            </a:br>
            <a:endParaRPr lang="ru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15DDE-BD88-0015-0D78-CC9CBB896EEE}"/>
              </a:ext>
            </a:extLst>
          </p:cNvPr>
          <p:cNvSpPr txBox="1"/>
          <p:nvPr/>
        </p:nvSpPr>
        <p:spPr>
          <a:xfrm>
            <a:off x="6559060" y="1690688"/>
            <a:ext cx="4447605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700" b="1" dirty="0" err="1">
                <a:solidFill>
                  <a:srgbClr val="00B050"/>
                </a:solidFill>
              </a:rPr>
              <a:t>Авітаміноз</a:t>
            </a:r>
            <a:r>
              <a:rPr lang="ru-RU" dirty="0"/>
              <a:t> — </a:t>
            </a:r>
            <a:r>
              <a:rPr lang="ru-RU" sz="2600" dirty="0" err="1"/>
              <a:t>майже</a:t>
            </a:r>
            <a:r>
              <a:rPr lang="ru-RU" sz="2600" dirty="0"/>
              <a:t> </a:t>
            </a:r>
            <a:r>
              <a:rPr lang="ru-RU" sz="2600" dirty="0" err="1"/>
              <a:t>повна</a:t>
            </a:r>
            <a:r>
              <a:rPr lang="ru-RU" sz="2600" dirty="0"/>
              <a:t> </a:t>
            </a:r>
            <a:r>
              <a:rPr lang="ru-RU" sz="2600" dirty="0" err="1"/>
              <a:t>відсутність</a:t>
            </a:r>
            <a:r>
              <a:rPr lang="ru-RU" sz="2600" dirty="0"/>
              <a:t> </a:t>
            </a:r>
            <a:r>
              <a:rPr lang="ru-RU" sz="2600" dirty="0" err="1"/>
              <a:t>вітаміну</a:t>
            </a:r>
            <a:endParaRPr lang="ru-RU" sz="2600" dirty="0"/>
          </a:p>
          <a:p>
            <a:pPr algn="l"/>
            <a:endParaRPr lang="ru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59CE9-253A-C300-019D-6C82074D94EA}"/>
              </a:ext>
            </a:extLst>
          </p:cNvPr>
          <p:cNvSpPr txBox="1"/>
          <p:nvPr/>
        </p:nvSpPr>
        <p:spPr>
          <a:xfrm>
            <a:off x="1159933" y="3660857"/>
            <a:ext cx="493606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i="1" u="sng" dirty="0"/>
              <a:t>Прояви</a:t>
            </a:r>
            <a:r>
              <a:rPr lang="ru-RU" dirty="0"/>
              <a:t>:</a:t>
            </a:r>
          </a:p>
          <a:p>
            <a:r>
              <a:rPr lang="ru-RU" sz="2400" dirty="0" err="1"/>
              <a:t>Ослаблення</a:t>
            </a:r>
            <a:r>
              <a:rPr lang="ru-RU" sz="2400" dirty="0"/>
              <a:t> </a:t>
            </a:r>
            <a:r>
              <a:rPr lang="ru-RU" sz="2400" dirty="0" err="1"/>
              <a:t>імунітету</a:t>
            </a:r>
            <a:endParaRPr lang="ru-RU" sz="2400" dirty="0"/>
          </a:p>
          <a:p>
            <a:r>
              <a:rPr lang="ru-RU" sz="2400" dirty="0" err="1"/>
              <a:t>Порушення</a:t>
            </a:r>
            <a:r>
              <a:rPr lang="ru-RU" sz="2400" dirty="0"/>
              <a:t> роботи </a:t>
            </a:r>
            <a:r>
              <a:rPr lang="ru-RU" sz="2400" dirty="0" err="1"/>
              <a:t>органів</a:t>
            </a:r>
            <a:endParaRPr lang="ru-RU" sz="2400" dirty="0"/>
          </a:p>
          <a:p>
            <a:r>
              <a:rPr lang="ru-RU" sz="2400" dirty="0" err="1"/>
              <a:t>Важкі</a:t>
            </a:r>
            <a:r>
              <a:rPr lang="ru-RU" sz="2400" dirty="0"/>
              <a:t> </a:t>
            </a:r>
            <a:r>
              <a:rPr lang="ru-RU" sz="2400" dirty="0" err="1"/>
              <a:t>захворювання</a:t>
            </a:r>
            <a:endParaRPr lang="ru-RU" sz="2400" dirty="0"/>
          </a:p>
          <a:p>
            <a:pPr algn="l"/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37400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66D32C-C55E-77D1-BAD4-8765463A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Приклади</a:t>
            </a:r>
            <a:r>
              <a:rPr lang="ru-RU" b="1" dirty="0"/>
              <a:t> </a:t>
            </a:r>
            <a:r>
              <a:rPr lang="ru-RU" b="1" dirty="0" err="1"/>
              <a:t>нестачі</a:t>
            </a:r>
            <a:r>
              <a:rPr lang="ru-RU" b="1" dirty="0"/>
              <a:t> </a:t>
            </a:r>
            <a:r>
              <a:rPr lang="ru-RU" b="1" dirty="0" err="1"/>
              <a:t>вітамінів</a:t>
            </a:r>
            <a:br>
              <a:rPr lang="ru-RU" b="1" dirty="0"/>
            </a:br>
            <a:endParaRPr lang="ru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54AE3-AECA-2FD5-68F8-548E1F2CA1CC}"/>
              </a:ext>
            </a:extLst>
          </p:cNvPr>
          <p:cNvSpPr txBox="1"/>
          <p:nvPr/>
        </p:nvSpPr>
        <p:spPr>
          <a:xfrm>
            <a:off x="5549574" y="2423421"/>
            <a:ext cx="5359400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 err="1"/>
              <a:t>Вітамін</a:t>
            </a:r>
            <a:r>
              <a:rPr lang="ru-RU" sz="2900" dirty="0"/>
              <a:t> </a:t>
            </a:r>
            <a:r>
              <a:rPr lang="af-ZA" sz="2900" dirty="0"/>
              <a:t>A — </a:t>
            </a:r>
            <a:r>
              <a:rPr lang="ru-RU" sz="2900" dirty="0" err="1"/>
              <a:t>погіршення</a:t>
            </a:r>
            <a:r>
              <a:rPr lang="ru-RU" sz="2900" dirty="0"/>
              <a:t> </a:t>
            </a:r>
            <a:r>
              <a:rPr lang="ru-RU" sz="2900" dirty="0" err="1"/>
              <a:t>зору</a:t>
            </a:r>
            <a:endParaRPr lang="ru-RU" sz="2900" dirty="0"/>
          </a:p>
          <a:p>
            <a:r>
              <a:rPr lang="ru-RU" sz="2900" dirty="0" err="1"/>
              <a:t>Вітамін</a:t>
            </a:r>
            <a:r>
              <a:rPr lang="ru-RU" sz="2900" dirty="0"/>
              <a:t> </a:t>
            </a:r>
            <a:r>
              <a:rPr lang="af-ZA" sz="2900" dirty="0"/>
              <a:t>C — </a:t>
            </a:r>
            <a:r>
              <a:rPr lang="ru-RU" sz="2900" dirty="0" err="1"/>
              <a:t>кровоточивість</a:t>
            </a:r>
            <a:r>
              <a:rPr lang="ru-RU" sz="2900" dirty="0"/>
              <a:t> ясен</a:t>
            </a:r>
          </a:p>
          <a:p>
            <a:r>
              <a:rPr lang="ru-RU" sz="2900" dirty="0" err="1"/>
              <a:t>Вітамін</a:t>
            </a:r>
            <a:r>
              <a:rPr lang="ru-RU" sz="2900" dirty="0"/>
              <a:t> </a:t>
            </a:r>
            <a:r>
              <a:rPr lang="af-ZA" sz="2900" dirty="0"/>
              <a:t>D — </a:t>
            </a:r>
            <a:r>
              <a:rPr lang="ru-RU" sz="2900" dirty="0" err="1"/>
              <a:t>рахіт</a:t>
            </a:r>
            <a:endParaRPr lang="ru-RU" sz="2900" dirty="0"/>
          </a:p>
          <a:p>
            <a:r>
              <a:rPr lang="ru-RU" sz="2900" dirty="0" err="1"/>
              <a:t>Вітаміни</a:t>
            </a:r>
            <a:r>
              <a:rPr lang="ru-RU" sz="2900" dirty="0"/>
              <a:t> групи </a:t>
            </a:r>
            <a:r>
              <a:rPr lang="af-ZA" sz="2900" dirty="0"/>
              <a:t>B — </a:t>
            </a:r>
            <a:r>
              <a:rPr lang="ru-RU" sz="2900" dirty="0" err="1"/>
              <a:t>порушення</a:t>
            </a:r>
            <a:r>
              <a:rPr lang="ru-RU" sz="2900" dirty="0"/>
              <a:t> </a:t>
            </a:r>
            <a:r>
              <a:rPr lang="ru-RU" sz="2900" dirty="0" err="1"/>
              <a:t>нервової</a:t>
            </a:r>
            <a:r>
              <a:rPr lang="ru-RU" sz="2900" dirty="0"/>
              <a:t> </a:t>
            </a:r>
            <a:r>
              <a:rPr lang="ru-RU" sz="2900" dirty="0" err="1"/>
              <a:t>системи</a:t>
            </a:r>
            <a:endParaRPr lang="ru-RU" sz="2900" dirty="0"/>
          </a:p>
          <a:p>
            <a:pPr algn="l"/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620876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E53B5BD-9CC9-CD51-9A3E-8ED160864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18" y="2521113"/>
            <a:ext cx="10515600" cy="4351338"/>
          </a:xfrm>
        </p:spPr>
        <p:txBody>
          <a:bodyPr/>
          <a:lstStyle/>
          <a:p>
            <a:r>
              <a:rPr lang="ru-RU" dirty="0" err="1"/>
              <a:t>Повноцінне</a:t>
            </a:r>
            <a:r>
              <a:rPr lang="ru-RU" dirty="0"/>
              <a:t> та </a:t>
            </a:r>
            <a:r>
              <a:rPr lang="ru-RU" dirty="0" err="1"/>
              <a:t>різноманітне</a:t>
            </a:r>
            <a:r>
              <a:rPr lang="ru-RU" dirty="0"/>
              <a:t> </a:t>
            </a:r>
            <a:r>
              <a:rPr lang="ru-RU" dirty="0" err="1"/>
              <a:t>харчування</a:t>
            </a:r>
            <a:endParaRPr lang="ru-RU" dirty="0"/>
          </a:p>
          <a:p>
            <a:r>
              <a:rPr lang="ru-RU" dirty="0" err="1"/>
              <a:t>Вживання</a:t>
            </a:r>
            <a:r>
              <a:rPr lang="ru-RU" dirty="0"/>
              <a:t> </a:t>
            </a:r>
            <a:r>
              <a:rPr lang="ru-RU" dirty="0" err="1"/>
              <a:t>свіжих</a:t>
            </a:r>
            <a:r>
              <a:rPr lang="ru-RU" dirty="0"/>
              <a:t> </a:t>
            </a:r>
            <a:r>
              <a:rPr lang="ru-RU" dirty="0" err="1"/>
              <a:t>овочів</a:t>
            </a:r>
            <a:r>
              <a:rPr lang="ru-RU" dirty="0"/>
              <a:t> і </a:t>
            </a:r>
            <a:r>
              <a:rPr lang="ru-RU" dirty="0" err="1"/>
              <a:t>фруктів</a:t>
            </a:r>
            <a:endParaRPr lang="ru-RU" dirty="0"/>
          </a:p>
          <a:p>
            <a:r>
              <a:rPr lang="ru-RU" dirty="0" err="1"/>
              <a:t>Дотримання</a:t>
            </a:r>
            <a:r>
              <a:rPr lang="ru-RU" dirty="0"/>
              <a:t> режиму дня</a:t>
            </a:r>
          </a:p>
          <a:p>
            <a:r>
              <a:rPr lang="ru-RU" dirty="0" err="1"/>
              <a:t>Активний</a:t>
            </a:r>
            <a:r>
              <a:rPr lang="ru-RU" dirty="0"/>
              <a:t> </a:t>
            </a:r>
            <a:r>
              <a:rPr lang="ru-RU" dirty="0" err="1"/>
              <a:t>спосіб</a:t>
            </a:r>
            <a:r>
              <a:rPr lang="ru-RU" dirty="0"/>
              <a:t> </a:t>
            </a:r>
            <a:r>
              <a:rPr lang="ru-RU" dirty="0" err="1"/>
              <a:t>життя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542CE-B40E-9950-06DE-857EA6788DFA}"/>
              </a:ext>
            </a:extLst>
          </p:cNvPr>
          <p:cNvSpPr txBox="1"/>
          <p:nvPr/>
        </p:nvSpPr>
        <p:spPr>
          <a:xfrm>
            <a:off x="5191369" y="2521113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ru-UA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2FEBF45-05AA-3DBC-F78E-FBF1FD21D90D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B02F3-056B-37D5-EB55-1E53AF94703F}"/>
              </a:ext>
            </a:extLst>
          </p:cNvPr>
          <p:cNvSpPr txBox="1"/>
          <p:nvPr/>
        </p:nvSpPr>
        <p:spPr>
          <a:xfrm>
            <a:off x="5191369" y="2521113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ru-UA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3EC378B-9343-7823-2C14-06E742907657}"/>
              </a:ext>
            </a:extLst>
          </p:cNvPr>
          <p:cNvSpPr>
            <a:spLocks noGrp="1"/>
          </p:cNvSpPr>
          <p:nvPr/>
        </p:nvSpPr>
        <p:spPr>
          <a:xfrm>
            <a:off x="990600" y="2918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2B111-A807-BB3A-7466-69334AEF1B91}"/>
              </a:ext>
            </a:extLst>
          </p:cNvPr>
          <p:cNvSpPr txBox="1"/>
          <p:nvPr/>
        </p:nvSpPr>
        <p:spPr>
          <a:xfrm>
            <a:off x="838200" y="695677"/>
            <a:ext cx="3877733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100" b="1" dirty="0" err="1"/>
              <a:t>Профілактика</a:t>
            </a:r>
            <a:endParaRPr lang="ru-RU" sz="4100" b="1" dirty="0"/>
          </a:p>
          <a:p>
            <a:pPr algn="l"/>
            <a:endParaRPr lang="ru-UA" sz="4600" dirty="0"/>
          </a:p>
        </p:txBody>
      </p:sp>
    </p:spTree>
    <p:extLst>
      <p:ext uri="{BB962C8B-B14F-4D97-AF65-F5344CB8AC3E}">
        <p14:creationId xmlns:p14="http://schemas.microsoft.com/office/powerpoint/2010/main" val="118558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1D74B2F-CCDA-83A9-D313-C173959ED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Гіпо</a:t>
            </a:r>
            <a:r>
              <a:rPr lang="ru-RU" dirty="0"/>
              <a:t>- та </a:t>
            </a:r>
            <a:r>
              <a:rPr lang="ru-RU" dirty="0" err="1"/>
              <a:t>авітамінози</a:t>
            </a:r>
            <a:r>
              <a:rPr lang="ru-RU" dirty="0"/>
              <a:t> негативно </a:t>
            </a:r>
            <a:r>
              <a:rPr lang="ru-RU" dirty="0" err="1"/>
              <a:t>впливають</a:t>
            </a:r>
            <a:r>
              <a:rPr lang="ru-RU" dirty="0"/>
              <a:t> на здоров’я.</a:t>
            </a:r>
          </a:p>
          <a:p>
            <a:r>
              <a:rPr lang="ru-RU" dirty="0" err="1"/>
              <a:t>Дотримання</a:t>
            </a:r>
            <a:r>
              <a:rPr lang="ru-RU" dirty="0"/>
              <a:t> правил здорового </a:t>
            </a:r>
            <a:r>
              <a:rPr lang="ru-RU" dirty="0" err="1"/>
              <a:t>харчування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запобігти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виникненню</a:t>
            </a:r>
            <a:r>
              <a:rPr lang="ru-RU" dirty="0"/>
              <a:t>.</a:t>
            </a:r>
          </a:p>
          <a:p>
            <a:endParaRPr lang="ru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4B30F-C056-3DB1-C432-08F1035FB370}"/>
              </a:ext>
            </a:extLst>
          </p:cNvPr>
          <p:cNvSpPr txBox="1"/>
          <p:nvPr/>
        </p:nvSpPr>
        <p:spPr>
          <a:xfrm>
            <a:off x="5191369" y="2521113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ru-UA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36C913E-D43A-3133-4245-206E17380589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9B552-1E40-6D8C-ED5C-7A1C7144F8D6}"/>
              </a:ext>
            </a:extLst>
          </p:cNvPr>
          <p:cNvSpPr txBox="1"/>
          <p:nvPr/>
        </p:nvSpPr>
        <p:spPr>
          <a:xfrm>
            <a:off x="5191369" y="2521113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ru-UA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2EFD903-ABED-DF4F-8B45-6D3D1AE87AB5}"/>
              </a:ext>
            </a:extLst>
          </p:cNvPr>
          <p:cNvSpPr>
            <a:spLocks noGrp="1"/>
          </p:cNvSpPr>
          <p:nvPr/>
        </p:nvSpPr>
        <p:spPr>
          <a:xfrm>
            <a:off x="990600" y="2918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U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3E8752-9D05-0764-15F1-41BAF8D10376}"/>
              </a:ext>
            </a:extLst>
          </p:cNvPr>
          <p:cNvSpPr txBox="1"/>
          <p:nvPr/>
        </p:nvSpPr>
        <p:spPr>
          <a:xfrm>
            <a:off x="990600" y="510270"/>
            <a:ext cx="3275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uk-UA" sz="3600" dirty="0"/>
              <a:t>Висновок</a:t>
            </a:r>
            <a:r>
              <a:rPr lang="uk-UA" dirty="0"/>
              <a:t> 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2464315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7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Презентація: «Гіпо- та авітамінози і їх профілактика» </vt:lpstr>
      <vt:lpstr>Вітаміни та їх роль </vt:lpstr>
      <vt:lpstr>Гіповітаміноз </vt:lpstr>
      <vt:lpstr>Авітаміноз </vt:lpstr>
      <vt:lpstr>Приклади нестачі вітамінів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Презентація: «Гіпо- та авітамінози і їх профілактика» </dc:title>
  <dc:creator>Ірина Авдюхіна</dc:creator>
  <cp:lastModifiedBy>Ірина Авдюхіна</cp:lastModifiedBy>
  <cp:revision>1</cp:revision>
  <dcterms:created xsi:type="dcterms:W3CDTF">2025-12-22T15:02:54Z</dcterms:created>
  <dcterms:modified xsi:type="dcterms:W3CDTF">2025-12-22T15:18:38Z</dcterms:modified>
</cp:coreProperties>
</file>